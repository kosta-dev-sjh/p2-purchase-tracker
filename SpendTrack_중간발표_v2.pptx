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80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914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SPENDTRACK  ·  1차 중간 발표  ·  v2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쇼핑 주문내역 OCR 기반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소비관리 서비스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640080" y="3291840"/>
            <a:ext cx="54864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429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결제내역이 아닌, 실제 구매 상품의 맥락까지 복원합니다.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발표일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2026.04.21  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2인 프론트엔드 세미프로젝트  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범위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Publisher v1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·  PROJECT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프로젝트 소개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SpendTrack 는 어떤 서비스인가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82296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0"/>
            <a:ext cx="91440" cy="960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줄 정의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 캡처 이미지를 OCR로 읽어 구매 상품을 복원하고, 소비 흐름을 기록·수정·조회·분석하는 가계부형 소비관리 웹앱.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2651760" cy="1737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944368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05840" y="29443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 포지션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58368" y="333756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쇼핑 주문내역 OCR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기반 가계부형 소비관리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246120" y="2788920"/>
            <a:ext cx="2651760" cy="1737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288" y="2944368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94760" y="29443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사용자 가치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447288" y="333756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기록 장벽 완화,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구매 맥락 복원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035040" y="2788920"/>
            <a:ext cx="2651760" cy="1737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2944368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83680" y="29443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성격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6236208" y="333756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2인 프론트엔드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세미프로젝트 MVP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단계: React Publisher v1 — 핵심 흐름 10+1 화면을 목업 데이터와 localStorage 기반 스토어로 구현.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문제 인식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결제내역·기존 가계부만으로 풀리지 않는 세 가지 공백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10512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6916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"쿠팡 결제 139,000원" — 그래서 무엇을 샀는지는 아무도 모른다.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242316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2423160"/>
            <a:ext cx="265176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25786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58368" y="2834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구매 맥락 부재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58368" y="32461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카드·간편결제 내역에는 플랫폼과 금액만 남고, 실제 상품·환불·정기결제 구분이 사라진다.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46120" y="242316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46120" y="2423160"/>
            <a:ext cx="265176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47288" y="25786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447288" y="2834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기록 분산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3447288" y="32461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쿠팡·네이버·무신사 등 쇼핑몰별 주문이 흩어져 통합 소비 흐름을 보기 어렵다.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035040" y="242316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035040" y="2423160"/>
            <a:ext cx="265176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36208" y="25786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236208" y="2834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수동 입력 부담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236208" y="32461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가계부는 직접 써야 지속이 어렵고, 카드 내역만으로는 맥락을 복원할 수 없다.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" y="4114800"/>
            <a:ext cx="822960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411480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정책 근거  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금융위 마이데이터 2.0(2024-2025) — 카드·간편결제 거래내역에 '물품내역'은 제공되지 않는다고 공식 명시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57200" y="4462272"/>
            <a:ext cx="822960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507992"/>
            <a:ext cx="201168" cy="20116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932688" y="446227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SpendTrack 는 이 공백을 OCR 기반 반자동 입력 + 사용자 보정으로 메운다.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MARKET RESEARCH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왜 API 자동 연동이 아니라 OCR 인가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국내 환경에서 구매 상품 맥락을 합법적으로 반입할 수 있는 경로는 구조적으로 제한된다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645920"/>
                <a:gridCol w="42062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반입 경로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접근 가능성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한계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쇼핑몰 공식 API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(쿠팡·네이버·무신사)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구조적 불가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개인 주문내역 외부 제공 API 미존재 (판매자 전용만 공개)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CODEF / 오픈뱅킹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(카드·은행 거래내역)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부분 가능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결제처·금액까지만 — 실제 상품 상세 복원 불가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MyData 사업자 API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불가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신용정보법상 지정 사업자만 접근 가능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주문확인 메일 파싱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제한적 가능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OAuth 심사·플랫폼별 포맷 차이·유지비용 누적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크롤링 / 헤드리스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기술 가능·규범 불가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이용약관 위반·2FA·캡차·세션 유지 부담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4F46E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주문 캡처 OCR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현실적 가능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4F46E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정확도 보완 필요 → 사용자 보정 UI 로 해결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411480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블라인드 규모  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쿠팡·네이버 이커머스 점유율 합계 약 43% · 간편결제 네이버페이 51.5% — 상품맥락이 사라지는 구간이 시장 대부분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57200" y="4498848"/>
            <a:ext cx="8229600" cy="301752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4498848"/>
            <a:ext cx="7955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은 구현 난이도를 낮추는 타협이 아니라, 구매 맥락을 합법적으로 복원할 수 있는 사실상 유일한 경로다.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COMPETITOR RESOLUTION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경쟁 서비스의 해상도 한계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가계부·페이 앱들이 '무엇을 샀는가'에 도달하지 못하는 지점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965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00200"/>
            <a:ext cx="196596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783080"/>
            <a:ext cx="1636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토스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1792" y="2130552"/>
            <a:ext cx="1636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간편결제 · 카드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21792" y="2468880"/>
            <a:ext cx="1636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해상도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21792" y="2679192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플랫폼 + 금액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" y="3017520"/>
            <a:ext cx="1636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한계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21792" y="3227832"/>
            <a:ext cx="1636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상품 단위 표시/필터 없음 — 결제처만 보임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14600" y="1600200"/>
            <a:ext cx="1965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14600" y="1600200"/>
            <a:ext cx="196596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79192" y="1783080"/>
            <a:ext cx="1636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뱅크샐러드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79192" y="2130552"/>
            <a:ext cx="1636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가계부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679192" y="2468880"/>
            <a:ext cx="1636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해상도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79192" y="2679192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카테고리 자동 분류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79192" y="3017520"/>
            <a:ext cx="1636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한계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679192" y="3227832"/>
            <a:ext cx="1636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카테고리까지만 — 품목 단위 조회 불가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0" y="1600200"/>
            <a:ext cx="1965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1600200"/>
            <a:ext cx="196596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6592" y="1783080"/>
            <a:ext cx="1636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편한가계부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36592" y="2130552"/>
            <a:ext cx="1636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수기 + 문자 파싱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36592" y="2468880"/>
            <a:ext cx="1636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해상도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36592" y="2679192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문자 기반 결제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36592" y="3017520"/>
            <a:ext cx="1636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36592" y="3227832"/>
            <a:ext cx="1636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수기 입력 의존 · 상품은 사용자가 직접 써야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629400" y="1600200"/>
            <a:ext cx="1965960" cy="21945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29400" y="1600200"/>
            <a:ext cx="1965960" cy="7315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93992" y="1783080"/>
            <a:ext cx="1636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SpendTrack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793992" y="2130552"/>
            <a:ext cx="1636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+ CSV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793992" y="2468880"/>
            <a:ext cx="1636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해상도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793992" y="2679192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상품 단위까지 복원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793992" y="3017520"/>
            <a:ext cx="1636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차별점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793992" y="3227832"/>
            <a:ext cx="1636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 캡처 OCR → 상품명·수량·상태 복원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3886200"/>
            <a:ext cx="8229600" cy="4572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995928"/>
            <a:ext cx="219456" cy="219456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914400" y="3904488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수요 신호 — 사용자 자력구제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914400" y="4087368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쿠팡·네이버 주문목록을 수기로 옮겨 적는 엑셀 가이드, 커뮤니티 글, Chrome 확장 프로그램이 꾸준히 제작·공유된다.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57200" y="4434840"/>
            <a:ext cx="822960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94360" y="443484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경쟁 서비스의 해상도 상한은 '카테고리'에서 멈춘다 — 상품 단위까지 보려면 사용자가 직접 적어야 했다.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·  POSITIONING 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포지셔닝 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자동화 수준 × 기록되는 정보의 깊이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280160" y="1600200"/>
            <a:ext cx="5029200" cy="3017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3108960"/>
            <a:ext cx="50292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3794760" y="1600200"/>
            <a:ext cx="0" cy="301752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1188720" y="4663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수동 입력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0" y="4663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수집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80160" y="49377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자동화 →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" y="1645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상품 맥락까지 기록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1440" y="4343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결제 요약만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1440" y="2971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정보 깊이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956816" y="4014216"/>
            <a:ext cx="201168" cy="20116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2336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수기 가계부 앱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85816" y="4014216"/>
            <a:ext cx="201168" cy="20116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0" y="42336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카드사·페이 내역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77256" y="3328416"/>
            <a:ext cx="201168" cy="20116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35478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뱅크샐러드·자동 가계부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368296" y="2231136"/>
            <a:ext cx="201168" cy="20116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0" y="2450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쇼핑몰 주문내역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425696" y="2093976"/>
            <a:ext cx="292608" cy="29260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43400" y="2011680"/>
            <a:ext cx="457200" cy="45720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4F46E5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3474720" y="24048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SpendTrack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92240" y="1600200"/>
            <a:ext cx="2194560" cy="30175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92240" y="1600200"/>
            <a:ext cx="219456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SpendTrack 의 자리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7512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반자동 입력으로 기록 부담을 낮추면서, 상품 단위까지 기록 가능한 서비스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675120" y="3017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카드·페이 내역: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자동이지만 결제 요약만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675120" y="3520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자동 가계부: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결제 흐름 파악용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675120" y="40233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쇼핑몰 각 사이트: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상품 있으나 분산·수동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PERSONA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목표 사용자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메인 / 서브 2인 페르소나로 요약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4023360" cy="3063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00200"/>
            <a:ext cx="402336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82880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911096"/>
            <a:ext cx="338328" cy="3383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181051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PERSONA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325880" y="20574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20~40대 직장인 · 온라인 쇼핑 빈도 높음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85800" y="2560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니즈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417320" y="25146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결제 후 '뭘 샀는지' 쉽게 다시 볼 수 있는 기록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85800" y="32186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불편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417320" y="317296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카드 내역엔 플랫폼만 남고, 가계부는 쓰다가 금방 멈춤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85800" y="38770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417320" y="3831336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캡처만 올리면 상품까지 정리되는 가벼운 소비 기록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663440" y="1600200"/>
            <a:ext cx="4023360" cy="3063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63440" y="1600200"/>
            <a:ext cx="402336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892040" y="182880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336" y="1911096"/>
            <a:ext cx="338328" cy="33832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532120" y="181051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 PERSONA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5532120" y="20574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신혼·기혼 생활비 관리 사용자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4892040" y="2560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니즈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5623560" y="25146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생활비 · 반복 소비 · 정기결제를 한눈에 관리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4892040" y="32186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불편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5623560" y="317296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환불·취소·반품이 가계부엔 안 남고, 공유하기도 번거로움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4892040" y="38770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5623560" y="3831336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 태그로 실질 지출만 추려 보는 월간 흐름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공통: 모바일 중심 사용, 자동화·빠른 확인·맥락 있는 기록에 대한 니즈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·  GOALS &amp; DIFFERENTIATORS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서비스 목표 &amp; 차별점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무엇을 해결하려 하고, 기존 서비스와 어떻게 다른가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6276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 목표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402336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205740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121408"/>
            <a:ext cx="164592" cy="1645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24128" y="2011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구매 맥락 복원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468880" y="20116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금액이 아닌 '무엇을 샀는가'로 이해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57200" y="2514600"/>
            <a:ext cx="402336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94360" y="260604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670048"/>
            <a:ext cx="164592" cy="16459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24128" y="2560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기록 장벽 완화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468880" y="25603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초안 + 보정으로 수동 입력 부담 ↓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57200" y="3063240"/>
            <a:ext cx="402336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94360" y="315468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218688"/>
            <a:ext cx="164592" cy="16459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24128" y="3108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소비 흐름 가시화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2468880" y="31089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월별 KPI, 플랫폼·카테고리, 반복구매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457200" y="3611880"/>
            <a:ext cx="402336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370332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767328"/>
            <a:ext cx="164592" cy="16459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24128" y="3657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생활형 관리 지원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2468880" y="36576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구매·환불·취소·반품·구독까지 한 단위로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457200" y="4160520"/>
            <a:ext cx="402336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594360" y="425196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4315968"/>
            <a:ext cx="164592" cy="16459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024128" y="4206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가벼운 AI 가치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2468880" y="42062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규칙 기반 요약 + AI 문장화 인사이트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4663440" y="1600200"/>
            <a:ext cx="4023360" cy="3108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663440" y="1600200"/>
            <a:ext cx="402336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484632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차별점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4846320" y="21488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결제내역이 아니라,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실제 '무엇을 샀는가'를 기록한다.</a:t>
            </a:r>
            <a:endParaRPr lang="en-US" sz="1700" dirty="0"/>
          </a:p>
        </p:txBody>
      </p:sp>
      <p:sp>
        <p:nvSpPr>
          <p:cNvPr id="35" name="Shape 28"/>
          <p:cNvSpPr/>
          <p:nvPr/>
        </p:nvSpPr>
        <p:spPr>
          <a:xfrm>
            <a:off x="4892040" y="3346704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5074920" y="32461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로 상품 단위까지 복원 (플랫폼 + 금액 이상의 맥락)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4892040" y="3675888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5074920" y="357530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카드 CSV × OCR 결합 — 결제흐름과 상품맥락을 한 거래로</a:t>
            </a:r>
            <a:endParaRPr lang="en-US" sz="1050" dirty="0"/>
          </a:p>
        </p:txBody>
      </p:sp>
      <p:sp>
        <p:nvSpPr>
          <p:cNvPr id="39" name="Shape 32"/>
          <p:cNvSpPr/>
          <p:nvPr/>
        </p:nvSpPr>
        <p:spPr>
          <a:xfrm>
            <a:off x="4892040" y="4005072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5074920" y="390448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병합 강제 안 함 — 매칭 후보 제시 + 사용자 선택</a:t>
            </a:r>
            <a:endParaRPr lang="en-US" sz="1050" dirty="0"/>
          </a:p>
        </p:txBody>
      </p:sp>
      <p:sp>
        <p:nvSpPr>
          <p:cNvPr id="41" name="Shape 34"/>
          <p:cNvSpPr/>
          <p:nvPr/>
        </p:nvSpPr>
        <p:spPr>
          <a:xfrm>
            <a:off x="4892040" y="4334256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5074920" y="423367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구매·환불·취소·반품·구독 상태 태그 기본 제공</a:t>
            </a:r>
            <a:endParaRPr lang="en-US" sz="1050" dirty="0"/>
          </a:p>
        </p:txBody>
      </p:sp>
      <p:sp>
        <p:nvSpPr>
          <p:cNvPr id="43" name="Text 36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·  USER FLOW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사용자 플로우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로그인에서 분석까지 — OCR / CSV / 수동 3 경로가 하나의 거래로 수렴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28016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64792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16550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로그인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96112" y="1947672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/login</a:t>
            </a:r>
            <a:endParaRPr lang="en-US" sz="8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1801368"/>
            <a:ext cx="182880" cy="20116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874520" y="1600200"/>
            <a:ext cx="128016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960" y="1764792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313432" y="16550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홈 허브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2313432" y="1947672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8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2968" y="1801368"/>
            <a:ext cx="182880" cy="201168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3291840" y="1600200"/>
            <a:ext cx="128016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1764792"/>
            <a:ext cx="292608" cy="29260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730752" y="16550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입력 선택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3730752" y="1947672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/upload</a:t>
            </a:r>
            <a:endParaRPr lang="en-US" sz="850" dirty="0"/>
          </a:p>
        </p:txBody>
      </p:sp>
      <p:sp>
        <p:nvSpPr>
          <p:cNvPr id="19" name="Text 12"/>
          <p:cNvSpPr/>
          <p:nvPr/>
        </p:nvSpPr>
        <p:spPr>
          <a:xfrm>
            <a:off x="4846320" y="17647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3가지 입력 경로</a:t>
            </a:r>
            <a:endParaRPr lang="en-US" sz="10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011680"/>
            <a:ext cx="201168" cy="201168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1097280" y="2240280"/>
            <a:ext cx="0" cy="32004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2" name="Shape 14"/>
          <p:cNvSpPr/>
          <p:nvPr/>
        </p:nvSpPr>
        <p:spPr>
          <a:xfrm>
            <a:off x="1097280" y="2560320"/>
            <a:ext cx="690372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1783080" y="2560320"/>
            <a:ext cx="0" cy="13716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457200" y="2697480"/>
            <a:ext cx="1280160" cy="640080"/>
          </a:xfrm>
          <a:prstGeom prst="rect">
            <a:avLst/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2862072"/>
            <a:ext cx="292608" cy="29260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896112" y="2743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OCR 업로드</a:t>
            </a:r>
            <a:endParaRPr lang="en-US" sz="1050" dirty="0"/>
          </a:p>
        </p:txBody>
      </p:sp>
      <p:sp>
        <p:nvSpPr>
          <p:cNvPr id="27" name="Text 18"/>
          <p:cNvSpPr/>
          <p:nvPr/>
        </p:nvSpPr>
        <p:spPr>
          <a:xfrm>
            <a:off x="896112" y="3035808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/ocr-upload</a:t>
            </a:r>
            <a:endParaRPr lang="en-US" sz="8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55648" y="2898648"/>
            <a:ext cx="182880" cy="201168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1965960" y="2697480"/>
            <a:ext cx="1143000" cy="640080"/>
          </a:xfrm>
          <a:prstGeom prst="rect">
            <a:avLst/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39112" y="2862072"/>
            <a:ext cx="292608" cy="292608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2359152" y="27432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OCR 편집</a:t>
            </a:r>
            <a:endParaRPr lang="en-US" sz="1050" dirty="0"/>
          </a:p>
        </p:txBody>
      </p:sp>
      <p:sp>
        <p:nvSpPr>
          <p:cNvPr id="32" name="Text 21"/>
          <p:cNvSpPr/>
          <p:nvPr/>
        </p:nvSpPr>
        <p:spPr>
          <a:xfrm>
            <a:off x="2359152" y="303580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/ocr-edit</a:t>
            </a:r>
            <a:endParaRPr lang="en-US" sz="800" dirty="0"/>
          </a:p>
        </p:txBody>
      </p:sp>
      <p:sp>
        <p:nvSpPr>
          <p:cNvPr id="33" name="Shape 22"/>
          <p:cNvSpPr/>
          <p:nvPr/>
        </p:nvSpPr>
        <p:spPr>
          <a:xfrm>
            <a:off x="4572000" y="2560320"/>
            <a:ext cx="0" cy="13716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4" name="Shape 23"/>
          <p:cNvSpPr/>
          <p:nvPr/>
        </p:nvSpPr>
        <p:spPr>
          <a:xfrm>
            <a:off x="3246120" y="2697480"/>
            <a:ext cx="2651760" cy="640080"/>
          </a:xfrm>
          <a:prstGeom prst="rect">
            <a:avLst/>
          </a:prstGeom>
          <a:solidFill>
            <a:srgbClr val="F8FAFC"/>
          </a:solidFill>
          <a:ln w="19050">
            <a:solidFill>
              <a:srgbClr val="06B6D4"/>
            </a:solidFill>
            <a:prstDash val="solid"/>
          </a:ln>
        </p:spPr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37560" y="2862072"/>
            <a:ext cx="292608" cy="292608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3685032" y="2743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CSV 업로드</a:t>
            </a:r>
            <a:endParaRPr lang="en-US" sz="1050" dirty="0"/>
          </a:p>
        </p:txBody>
      </p:sp>
      <p:sp>
        <p:nvSpPr>
          <p:cNvPr id="37" name="Text 25"/>
          <p:cNvSpPr/>
          <p:nvPr/>
        </p:nvSpPr>
        <p:spPr>
          <a:xfrm>
            <a:off x="3685032" y="3035808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/csv-upload</a:t>
            </a:r>
            <a:endParaRPr lang="en-US" sz="800" dirty="0"/>
          </a:p>
        </p:txBody>
      </p:sp>
      <p:sp>
        <p:nvSpPr>
          <p:cNvPr id="38" name="Shape 26"/>
          <p:cNvSpPr/>
          <p:nvPr/>
        </p:nvSpPr>
        <p:spPr>
          <a:xfrm>
            <a:off x="7360920" y="2560320"/>
            <a:ext cx="0" cy="13716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9" name="Shape 27"/>
          <p:cNvSpPr/>
          <p:nvPr/>
        </p:nvSpPr>
        <p:spPr>
          <a:xfrm>
            <a:off x="6035040" y="2697480"/>
            <a:ext cx="2651760" cy="640080"/>
          </a:xfrm>
          <a:prstGeom prst="rect">
            <a:avLst/>
          </a:prstGeom>
          <a:solidFill>
            <a:srgbClr val="F8FAFC"/>
          </a:solidFill>
          <a:ln w="19050">
            <a:solidFill>
              <a:srgbClr val="F97316"/>
            </a:solidFill>
            <a:prstDash val="solid"/>
          </a:ln>
        </p:spPr>
      </p:sp>
      <p:pic>
        <p:nvPicPr>
          <p:cNvPr id="4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26480" y="2862072"/>
            <a:ext cx="292608" cy="292608"/>
          </a:xfrm>
          <a:prstGeom prst="rect">
            <a:avLst/>
          </a:prstGeom>
        </p:spPr>
      </p:pic>
      <p:sp>
        <p:nvSpPr>
          <p:cNvPr id="41" name="Text 28"/>
          <p:cNvSpPr/>
          <p:nvPr/>
        </p:nvSpPr>
        <p:spPr>
          <a:xfrm>
            <a:off x="6473952" y="2743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수동 입력</a:t>
            </a:r>
            <a:endParaRPr lang="en-US" sz="1050" dirty="0"/>
          </a:p>
        </p:txBody>
      </p:sp>
      <p:sp>
        <p:nvSpPr>
          <p:cNvPr id="42" name="Text 29"/>
          <p:cNvSpPr/>
          <p:nvPr/>
        </p:nvSpPr>
        <p:spPr>
          <a:xfrm>
            <a:off x="6473952" y="3035808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/manual-entry</a:t>
            </a:r>
            <a:endParaRPr lang="en-US" sz="800" dirty="0"/>
          </a:p>
        </p:txBody>
      </p:sp>
      <p:sp>
        <p:nvSpPr>
          <p:cNvPr id="43" name="Shape 30"/>
          <p:cNvSpPr/>
          <p:nvPr/>
        </p:nvSpPr>
        <p:spPr>
          <a:xfrm>
            <a:off x="1783080" y="3337560"/>
            <a:ext cx="0" cy="54864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44" name="Shape 31"/>
          <p:cNvSpPr/>
          <p:nvPr/>
        </p:nvSpPr>
        <p:spPr>
          <a:xfrm>
            <a:off x="4572000" y="3337560"/>
            <a:ext cx="0" cy="54864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45" name="Shape 32"/>
          <p:cNvSpPr/>
          <p:nvPr/>
        </p:nvSpPr>
        <p:spPr>
          <a:xfrm>
            <a:off x="7360920" y="3337560"/>
            <a:ext cx="0" cy="54864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46" name="Shape 33"/>
          <p:cNvSpPr/>
          <p:nvPr/>
        </p:nvSpPr>
        <p:spPr>
          <a:xfrm>
            <a:off x="457200" y="3886200"/>
            <a:ext cx="5029200" cy="77724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47" name="Text 34"/>
          <p:cNvSpPr/>
          <p:nvPr/>
        </p:nvSpPr>
        <p:spPr>
          <a:xfrm>
            <a:off x="640080" y="39593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매칭 &amp; 병합</a:t>
            </a:r>
            <a:endParaRPr lang="en-US" sz="1000" dirty="0"/>
          </a:p>
        </p:txBody>
      </p:sp>
      <p:sp>
        <p:nvSpPr>
          <p:cNvPr id="48" name="Text 35"/>
          <p:cNvSpPr/>
          <p:nvPr/>
        </p:nvSpPr>
        <p:spPr>
          <a:xfrm>
            <a:off x="640080" y="418795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플랫폼·금액·날짜 기준 매칭 후보 탐색 →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'기존 거래에 상품 추가' vs '새 거래 저장' 사용자 선택</a:t>
            </a:r>
            <a:endParaRPr lang="en-US" sz="1000" dirty="0"/>
          </a:p>
        </p:txBody>
      </p:sp>
      <p:pic>
        <p:nvPicPr>
          <p:cNvPr id="4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32120" y="4178808"/>
            <a:ext cx="201168" cy="201168"/>
          </a:xfrm>
          <a:prstGeom prst="rect">
            <a:avLst/>
          </a:prstGeom>
        </p:spPr>
      </p:pic>
      <p:sp>
        <p:nvSpPr>
          <p:cNvPr id="50" name="Shape 36"/>
          <p:cNvSpPr/>
          <p:nvPr/>
        </p:nvSpPr>
        <p:spPr>
          <a:xfrm>
            <a:off x="5760720" y="3886200"/>
            <a:ext cx="128016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1" name="Text 37"/>
          <p:cNvSpPr/>
          <p:nvPr/>
        </p:nvSpPr>
        <p:spPr>
          <a:xfrm>
            <a:off x="5760720" y="3977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저장</a:t>
            </a:r>
            <a:endParaRPr lang="en-US" sz="1200" dirty="0"/>
          </a:p>
        </p:txBody>
      </p:sp>
      <p:sp>
        <p:nvSpPr>
          <p:cNvPr id="52" name="Text 38"/>
          <p:cNvSpPr/>
          <p:nvPr/>
        </p:nvSpPr>
        <p:spPr>
          <a:xfrm>
            <a:off x="5760720" y="42519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</a:t>
            </a:r>
            <a:endParaRPr lang="en-US" sz="850" dirty="0"/>
          </a:p>
        </p:txBody>
      </p:sp>
      <p:pic>
        <p:nvPicPr>
          <p:cNvPr id="5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59168" y="4178808"/>
            <a:ext cx="201168" cy="201168"/>
          </a:xfrm>
          <a:prstGeom prst="rect">
            <a:avLst/>
          </a:prstGeom>
        </p:spPr>
      </p:pic>
      <p:sp>
        <p:nvSpPr>
          <p:cNvPr id="54" name="Shape 39"/>
          <p:cNvSpPr/>
          <p:nvPr/>
        </p:nvSpPr>
        <p:spPr>
          <a:xfrm>
            <a:off x="7287768" y="3886200"/>
            <a:ext cx="1399032" cy="7772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5" name="Text 40"/>
          <p:cNvSpPr/>
          <p:nvPr/>
        </p:nvSpPr>
        <p:spPr>
          <a:xfrm>
            <a:off x="7287768" y="397764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조회 · 분석</a:t>
            </a:r>
            <a:endParaRPr lang="en-US" sz="1200" dirty="0"/>
          </a:p>
        </p:txBody>
      </p:sp>
      <p:sp>
        <p:nvSpPr>
          <p:cNvPr id="56" name="Text 41"/>
          <p:cNvSpPr/>
          <p:nvPr/>
        </p:nvSpPr>
        <p:spPr>
          <a:xfrm>
            <a:off x="7287768" y="4251960"/>
            <a:ext cx="1399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/transactions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/analysis</a:t>
            </a:r>
            <a:endParaRPr lang="en-US" sz="850" dirty="0"/>
          </a:p>
        </p:txBody>
      </p:sp>
      <p:sp>
        <p:nvSpPr>
          <p:cNvPr id="57" name="Text 4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·  FEATURE SPEC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기능 명세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Document 기준 F-01 ~ F-13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194560"/>
                <a:gridCol w="4480560"/>
                <a:gridCol w="914400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기능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설명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우선도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F-01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로그인 / 회원가입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사용자 인증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F46E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필수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F-02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입력 방식 선택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OCR · CSV · 수동 선택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F46E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필수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F-03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OCR 업로드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주문 캡처 이미지 업로드·미리보기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F46E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필수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F-04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OCR 분석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이미지에서 상품 정보 추출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F46E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필수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F-05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OCR 결과 수정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상품명/금액/링크/태그 수정·삭제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F46E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필수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F-06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수동 입력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거래 직접 입력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F46E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필수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F-07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카드 CSV 업로드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결제내역 벌크 반입 + 매칭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F46E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필수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F-08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거래 저장 (스토어)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localStorage 기반 전역 스토어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F46E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필수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F-09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거래 조회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월별 목록 · 검색 · 상세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F46E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필수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F-10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소비 분석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월별 차트 · 플랫폼·카테고리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F46E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필수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F-11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홈 요약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현재 월 KPI · 최근 거래 · 인사이트 카드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F46E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필수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F-12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소비 인사이트 메시지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규칙 기반 요약 + AI 문장화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973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포함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F-13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상품명 기반 검색 링크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링크 미입력 시 검색 보조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선택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48056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우선도 '포함' = MVP 내 포함이나 연동 차기 / '선택' = 여유 시 반영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·  INFORMATION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화면 구조 (IA)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라우트 6군 11개 · 컴포넌트 9 카테고리 · pages 3단 구조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6276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 ·  6 기능군 · 11개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1371600" cy="31089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87452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인증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920240" y="1874520"/>
            <a:ext cx="160020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1892808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/login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011680" y="200253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93592" y="1874520"/>
            <a:ext cx="160020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85032" y="1892808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/register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685032" y="200253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Register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258568"/>
            <a:ext cx="1371600" cy="31089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25856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허브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920240" y="2258568"/>
            <a:ext cx="160020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0" y="2276856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011680" y="238658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Home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642616"/>
            <a:ext cx="1371600" cy="31089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64261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입력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920240" y="2642616"/>
            <a:ext cx="160020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11680" y="2660904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/upload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011680" y="27706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Upload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593592" y="2642616"/>
            <a:ext cx="160020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85032" y="2660904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/ocr-upload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685032" y="27706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OCR Upload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266944" y="2642616"/>
            <a:ext cx="160020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58384" y="2660904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/csv-upload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358384" y="27706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CSV Upload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940296" y="2642616"/>
            <a:ext cx="160020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31736" y="2660904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/manual-entry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7031736" y="27706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Manual Entry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026664"/>
            <a:ext cx="1371600" cy="31089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302666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편집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920240" y="3026664"/>
            <a:ext cx="160020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11680" y="3044952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/ocr-edit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011680" y="31546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OCR Edit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3410712"/>
            <a:ext cx="1371600" cy="31089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341071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조회/분석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920240" y="3410712"/>
            <a:ext cx="160020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011680" y="3429000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/transactions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2011680" y="353872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Transactions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593592" y="3410712"/>
            <a:ext cx="160020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85032" y="3429000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/analysis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685032" y="353872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Analysis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57200" y="3794760"/>
            <a:ext cx="1371600" cy="31089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379476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설정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1920240" y="3794760"/>
            <a:ext cx="160020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011680" y="3813048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/settings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2011680" y="392277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Settings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57200" y="42519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  ·  9 카테고리 분리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029200" y="42519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3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 / &lt;Screen&gt; / index.tsx + components/ + data.ts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57200" y="4507992"/>
            <a:ext cx="859536" cy="27432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4507992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primitives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1371600" y="4507992"/>
            <a:ext cx="859536" cy="27432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371600" y="4507992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286000" y="4507992"/>
            <a:ext cx="859536" cy="27432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286000" y="4507992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200400" y="4507992"/>
            <a:ext cx="859536" cy="27432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00400" y="4507992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114800" y="4507992"/>
            <a:ext cx="859536" cy="27432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114800" y="4507992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029200" y="4507992"/>
            <a:ext cx="859536" cy="27432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029200" y="4507992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943600" y="4507992"/>
            <a:ext cx="859536" cy="27432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943600" y="4507992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858000" y="4507992"/>
            <a:ext cx="859536" cy="27432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858000" y="4507992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7772400" y="4507992"/>
            <a:ext cx="859536" cy="27432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772400" y="4507992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·  TECH STACK &amp; WHY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기술 스택 &amp; 선정 이유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v1에서 실제로 돌아가는 스택 — 각 선택에는 이유가 있다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402336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2024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7556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React 19 + TypeScript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280160" y="204825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컴포넌트 재사용 / 거래·상품 같은 도메인 타입을 명시해 2인 협업 오류 ↓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63440" y="1645920"/>
            <a:ext cx="402336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46320" y="182880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92024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17556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Vite 8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486400" y="204825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빠른 HMR · 얇은 번들 — 세미프로젝트 DX 에 최적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57200" y="2633472"/>
            <a:ext cx="402336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40080" y="2816352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907792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80160" y="27432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React Router DOM 7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280160" y="303580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11개 라우트 · HashRouter 로 정적 호스팅·깊은 링크 안전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663440" y="2633472"/>
            <a:ext cx="402336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846320" y="2816352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907792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86400" y="27432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styled-components 6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486400" y="303580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컴포넌트 단위 스타일·props 기반 변형 / 디자인 토큰과 궁합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57200" y="3621024"/>
            <a:ext cx="402336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640080" y="3803904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895344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280160" y="37307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Recharts 3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1280160" y="4023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친화적 선언형 차트 — Home·Analysis KPI 즉시 구성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4663440" y="3621024"/>
            <a:ext cx="402336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4846320" y="3803904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895344"/>
            <a:ext cx="320040" cy="32004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486400" y="37307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localStorage store + CSV 정규화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5486400" y="4023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플랫폼 헤더 매핑 · 인코딩 자동 감지 · API 단순해 Firestore 교체 용이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457200" y="457200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공통 선정 기준: 2인 규모에서 학습·유지보수 부담이 낮고, 차기 실연동 단계에서 교체·확장이 가능한 기술.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·  CURRENT SCOPE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현재 구현 범위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흐름 11개 화면 · 목업 + localStorage 스토어 · UI 완료 / 실연동 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65176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459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645920" y="164592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구현된 라우트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600200"/>
            <a:ext cx="265176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6459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434840" y="164592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정규화 플랫폼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(쿠팡·네이버·무신사)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35040" y="1600200"/>
            <a:ext cx="265176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16459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v1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7223760" y="164592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Publisher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확정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4023360" cy="2057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807208"/>
            <a:ext cx="256032" cy="25603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60120" y="27889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구현 완료 · 작동 확인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85800" y="329184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8680" y="32004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11개 화면 UI 전부 + 목업 시드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85800" y="358444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8680" y="349300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거래 스토어 (localStorage, 세션 간 유지)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85800" y="3877056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68680" y="378561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거래 CRUD · 검색/필터 · 월별 요약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85800" y="4169664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68680" y="407822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쿠팡·네이버·무신사 CSV 파싱 · 인코딩 자동 감지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85800" y="4462272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68680" y="437083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편집 + 매칭 모달 (병합 vs 신규)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663440" y="2651760"/>
            <a:ext cx="40233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807208"/>
            <a:ext cx="256032" cy="256032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166360" y="27889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실연동 전 (차기 단계)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892040" y="3291840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074920" y="32004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OCR 엔진 추출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4892040" y="3584448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5074920" y="349300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인증 (현재는 UI 모킹)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4892040" y="3877056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074920" y="378561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원격 DB (Firestore 등)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4892040" y="4169664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5074920" y="407822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인사이트 실 API 호출</a:t>
            </a:r>
            <a:endParaRPr lang="en-US" sz="1050" dirty="0"/>
          </a:p>
        </p:txBody>
      </p:sp>
      <p:sp>
        <p:nvSpPr>
          <p:cNvPr id="38" name="Shape 34"/>
          <p:cNvSpPr/>
          <p:nvPr/>
        </p:nvSpPr>
        <p:spPr>
          <a:xfrm>
            <a:off x="4892040" y="4462272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5074920" y="437083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파이프라인</a:t>
            </a:r>
            <a:endParaRPr lang="en-US" sz="1050" dirty="0"/>
          </a:p>
        </p:txBody>
      </p:sp>
      <p:sp>
        <p:nvSpPr>
          <p:cNvPr id="40" name="Text 36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해석: 이번 단계 이슈는 '기획 누락'이 아니라 '실연동 전 상태' — 다음 단계는 레이어 교체가 중심.</a:t>
            </a:r>
            <a:endParaRPr lang="en-US" sz="1000" dirty="0"/>
          </a:p>
        </p:txBody>
      </p:sp>
      <p:sp>
        <p:nvSpPr>
          <p:cNvPr id="41" name="Text 37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·  KEY SCREENS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주요 화면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(발표 전에 실제 캡처 이미지로 교체)  ·  Home · OCR Edit · Transactions · Analysis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402336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874520"/>
            <a:ext cx="35661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85800" y="18745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캡처 영역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606040"/>
            <a:ext cx="868680" cy="2743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6060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00200" y="2606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8803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 KPI · 차트 · 최근 거래 · 인사이트 카드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645920"/>
            <a:ext cx="402336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1874520"/>
            <a:ext cx="35661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4892040" y="18745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캡처 영역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92040" y="2606040"/>
            <a:ext cx="868680" cy="2743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26060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/ocr-edit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806440" y="2606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OCR Edit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92040" y="28803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추출 결과 확인 · 주문일자 포함 수정 · 매칭 모달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246120"/>
            <a:ext cx="402336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474720"/>
            <a:ext cx="35661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685800" y="34747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캡처 영역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" y="4206240"/>
            <a:ext cx="868680" cy="2743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4206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/transactions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600200" y="4206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Transactions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" y="44805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 · 검색 · 필터 · 우측 상세 패널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3246120"/>
            <a:ext cx="402336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92040" y="3474720"/>
            <a:ext cx="35661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4892040" y="34747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캡처 영역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92040" y="4206240"/>
            <a:ext cx="868680" cy="2743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4206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/analysis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806440" y="4206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Analysis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92040" y="44805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플랫폼·카테고리 분석 · 반복구매·구독 카드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실제 캡처는 /sessions 또는 발표 직전 스크린샷으로 교체 예정.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 ·  ROADMAP &amp; RISKS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향후 확장 &amp; 리스크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구조 위에 실연동 레이어를 붙이는 순서와, 각 단계의 리스크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68680" y="1691640"/>
            <a:ext cx="36576" cy="2743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" y="1664208"/>
            <a:ext cx="274320" cy="2743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6916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88720" y="1636776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인증 · 저장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93852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Auth + Firestore · transactionsStore API 교체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58952" y="2377440"/>
            <a:ext cx="274320" cy="2743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240487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88720" y="2350008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OCR 엔진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26517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Tesseract.js 또는 CLOVA · 정확도 실측·보정 UI 튜닝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58952" y="3090672"/>
            <a:ext cx="274320" cy="2743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311810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88720" y="3063240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인사이트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336499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Functions 경유 LLM 호출 · 요약값 문장화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58952" y="3803904"/>
            <a:ext cx="274320" cy="2743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383133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88720" y="3776472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배포 파이프라인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407822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· Docker · AWS EC2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1600200"/>
            <a:ext cx="3931920" cy="3108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1600200"/>
            <a:ext cx="39319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783080"/>
            <a:ext cx="228600" cy="22860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5212080" y="17556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리스크 &amp; 완화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937760" y="2148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OCR 정확도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937760" y="2423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사용자 보정 UI 전제 · 플랫폼별 템플릿 우선 학습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4937760" y="2788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자동 매칭 오류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937760" y="3063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자동 병합 금지 · 항상 사용자 선택 모달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4937760" y="3429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저장소 교체 비용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937760" y="3703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스토어 공개 API 단순 유지 → UI 변경 없이 교체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4937760" y="4069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비용·지연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937760" y="4343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규칙 기반 요약이 먼저 · AI 는 문장화만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 ·  COLLABORATION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협업 방식 &amp; 일정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2인 프론트 · 문서 · 코드 규칙 동기화를 통한 세미프로젝트 운영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402336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4708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920240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코드 규칙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34440" y="2057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SpendTrack_V1_Code_Rules.md 공용 기준 준수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2651760"/>
            <a:ext cx="402336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" y="285292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926080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34440" y="2788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기술 요약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234440" y="3063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SpendTrack_V1_Tech_Summary.md 로 인수 준비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57200" y="3657600"/>
            <a:ext cx="402336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40080" y="385876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931920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34440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역할 분담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234440" y="40690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화면·스토어 레이어별 오너십 분리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663440" y="1645920"/>
            <a:ext cx="4023360" cy="2880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84632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846320" y="2194560"/>
            <a:ext cx="731520" cy="2560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846320" y="21945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현재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5669280" y="2148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React Publisher v1 확정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5669280" y="23957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1차 중간 발표 시점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4846320" y="2788920"/>
            <a:ext cx="73152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846320" y="27889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2주 내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5669280" y="2743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Firebase Auth · Firestore 연결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5669280" y="29900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 데이터 저장 전환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4846320" y="3383280"/>
            <a:ext cx="73152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4846320" y="33832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4주 내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5669280" y="3337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OCR 엔진 · AI 인사이트 연동</a:t>
            </a:r>
            <a:endParaRPr lang="en-US" sz="1150" dirty="0"/>
          </a:p>
        </p:txBody>
      </p:sp>
      <p:sp>
        <p:nvSpPr>
          <p:cNvPr id="33" name="Text 28"/>
          <p:cNvSpPr/>
          <p:nvPr/>
        </p:nvSpPr>
        <p:spPr>
          <a:xfrm>
            <a:off x="5669280" y="35844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실연동 통합 테스트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4846320" y="3977640"/>
            <a:ext cx="73152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4846320" y="39776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최종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5669280" y="3931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배포 · 최종 발표</a:t>
            </a:r>
            <a:endParaRPr lang="en-US" sz="1150" dirty="0"/>
          </a:p>
        </p:txBody>
      </p:sp>
      <p:sp>
        <p:nvSpPr>
          <p:cNvPr id="37" name="Text 32"/>
          <p:cNvSpPr/>
          <p:nvPr/>
        </p:nvSpPr>
        <p:spPr>
          <a:xfrm>
            <a:off x="5669280" y="41788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+ Docker + Actions</a:t>
            </a:r>
            <a:endParaRPr lang="en-US" sz="900" dirty="0"/>
          </a:p>
        </p:txBody>
      </p:sp>
      <p:sp>
        <p:nvSpPr>
          <p:cNvPr id="38" name="Text 33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80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143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SPENDTRACK  ·  v2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지금은 퍼블리셔 v1,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다음은 실 연동.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54864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기획·구조·문서는 모두 실연동 단계에서 '바로 붙일 수 있는' 형태로 정리했습니다.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886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질문과 피드백을 환영합니다.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 ·  Q&amp;A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SpendTrack 1차 중간 발표 v2-rev</dc:title>
  <dc:subject>PptxGenJS Presentation</dc:subject>
  <dc:creator>SpendTrack Team</dc:creator>
  <cp:lastModifiedBy>SpendTrack Team</cp:lastModifiedBy>
  <cp:revision>1</cp:revision>
  <dcterms:created xsi:type="dcterms:W3CDTF">2026-04-21T03:40:37Z</dcterms:created>
  <dcterms:modified xsi:type="dcterms:W3CDTF">2026-04-21T03:40:37Z</dcterms:modified>
</cp:coreProperties>
</file>